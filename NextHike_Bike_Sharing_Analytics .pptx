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0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67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rvind bhujade" userId="a04e64ecad6baa87" providerId="LiveId" clId="{A476D2DA-A872-480D-99A2-A9317BC17C09}"/>
    <pc:docChg chg="modSld sldOrd">
      <pc:chgData name="Arvind bhujade" userId="a04e64ecad6baa87" providerId="LiveId" clId="{A476D2DA-A872-480D-99A2-A9317BC17C09}" dt="2026-07-24T18:03:28.035" v="15"/>
      <pc:docMkLst>
        <pc:docMk/>
      </pc:docMkLst>
      <pc:sldChg chg="modSp mod">
        <pc:chgData name="Arvind bhujade" userId="a04e64ecad6baa87" providerId="LiveId" clId="{A476D2DA-A872-480D-99A2-A9317BC17C09}" dt="2026-07-24T18:02:12.923" v="11" actId="20577"/>
        <pc:sldMkLst>
          <pc:docMk/>
          <pc:sldMk cId="0" sldId="256"/>
        </pc:sldMkLst>
        <pc:spChg chg="mod">
          <ac:chgData name="Arvind bhujade" userId="a04e64ecad6baa87" providerId="LiveId" clId="{A476D2DA-A872-480D-99A2-A9317BC17C09}" dt="2026-07-24T18:02:12.923" v="11" actId="20577"/>
          <ac:spMkLst>
            <pc:docMk/>
            <pc:sldMk cId="0" sldId="256"/>
            <ac:spMk id="5" creationId="{00000000-0000-0000-0000-000000000000}"/>
          </ac:spMkLst>
        </pc:spChg>
      </pc:sldChg>
      <pc:sldChg chg="ord">
        <pc:chgData name="Arvind bhujade" userId="a04e64ecad6baa87" providerId="LiveId" clId="{A476D2DA-A872-480D-99A2-A9317BC17C09}" dt="2026-07-24T18:03:28.035" v="15"/>
        <pc:sldMkLst>
          <pc:docMk/>
          <pc:sldMk cId="0" sldId="260"/>
        </pc:sldMkLst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714</c:v>
                </c:pt>
                <c:pt idx="1">
                  <c:v>466</c:v>
                </c:pt>
                <c:pt idx="2">
                  <c:v>340</c:v>
                </c:pt>
                <c:pt idx="3">
                  <c:v>152</c:v>
                </c:pt>
                <c:pt idx="4">
                  <c:v>70</c:v>
                </c:pt>
                <c:pt idx="5">
                  <c:v>190</c:v>
                </c:pt>
                <c:pt idx="6">
                  <c:v>952</c:v>
                </c:pt>
                <c:pt idx="7">
                  <c:v>2786</c:v>
                </c:pt>
                <c:pt idx="8">
                  <c:v>6566</c:v>
                </c:pt>
                <c:pt idx="9">
                  <c:v>4352</c:v>
                </c:pt>
                <c:pt idx="10">
                  <c:v>2602</c:v>
                </c:pt>
                <c:pt idx="11">
                  <c:v>2910</c:v>
                </c:pt>
                <c:pt idx="12">
                  <c:v>3872</c:v>
                </c:pt>
                <c:pt idx="13">
                  <c:v>3908</c:v>
                </c:pt>
                <c:pt idx="14">
                  <c:v>3536</c:v>
                </c:pt>
                <c:pt idx="15">
                  <c:v>3868</c:v>
                </c:pt>
                <c:pt idx="16">
                  <c:v>4400</c:v>
                </c:pt>
                <c:pt idx="17">
                  <c:v>6966</c:v>
                </c:pt>
                <c:pt idx="18">
                  <c:v>6164</c:v>
                </c:pt>
                <c:pt idx="19">
                  <c:v>4426</c:v>
                </c:pt>
                <c:pt idx="20">
                  <c:v>2934</c:v>
                </c:pt>
                <c:pt idx="21">
                  <c:v>2150</c:v>
                </c:pt>
                <c:pt idx="22">
                  <c:v>1676</c:v>
                </c:pt>
                <c:pt idx="23">
                  <c:v>1042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32-4129-A45A-B24D214D56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591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E7591"/>
                    </a:solidFill>
                    <a:latin typeface="Arial"/>
                  </a:rPr>
                  <a:t>Hour of Day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E75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591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E7591"/>
                    </a:solidFill>
                    <a:latin typeface="Arial"/>
                  </a:rPr>
                  <a:t>Total Rides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5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Rides</c:v>
                </c:pt>
              </c:strCache>
            </c:strRef>
          </c:tx>
          <c:spPr>
            <a:solidFill>
              <a:srgbClr val="9FB6E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27CF-4F61-9399-1427E52706BD}"/>
              </c:ext>
            </c:extLst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27CF-4F61-9399-1427E52706BD}"/>
              </c:ext>
            </c:extLst>
          </c:dPt>
          <c:dPt>
            <c:idx val="2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27CF-4F61-9399-1427E52706BD}"/>
              </c:ext>
            </c:extLst>
          </c:dPt>
          <c:dPt>
            <c:idx val="3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27CF-4F61-9399-1427E52706BD}"/>
              </c:ext>
            </c:extLst>
          </c:dPt>
          <c:dPt>
            <c:idx val="4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27CF-4F61-9399-1427E52706BD}"/>
              </c:ext>
            </c:extLst>
          </c:dPt>
          <c:dPt>
            <c:idx val="5"/>
            <c:invertIfNegative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27CF-4F61-9399-1427E52706BD}"/>
              </c:ext>
            </c:extLst>
          </c:dPt>
          <c:dPt>
            <c:idx val="6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D-27CF-4F61-9399-1427E52706BD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27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Sheet1!$A$2:$A$8</c:f>
              <c:strCache>
                <c:ptCount val="7"/>
                <c:pt idx="0">
                  <c:v>Sun</c:v>
                </c:pt>
                <c:pt idx="1">
                  <c:v>Mon</c:v>
                </c:pt>
                <c:pt idx="2">
                  <c:v>Tue</c:v>
                </c:pt>
                <c:pt idx="3">
                  <c:v>Wed</c:v>
                </c:pt>
                <c:pt idx="4">
                  <c:v>Thu</c:v>
                </c:pt>
                <c:pt idx="5">
                  <c:v>Fri</c:v>
                </c:pt>
                <c:pt idx="6">
                  <c:v>Sat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8040</c:v>
                </c:pt>
                <c:pt idx="1">
                  <c:v>9942</c:v>
                </c:pt>
                <c:pt idx="2">
                  <c:v>10976</c:v>
                </c:pt>
                <c:pt idx="3">
                  <c:v>9836</c:v>
                </c:pt>
                <c:pt idx="4">
                  <c:v>10740</c:v>
                </c:pt>
                <c:pt idx="5">
                  <c:v>10090</c:v>
                </c:pt>
                <c:pt idx="6">
                  <c:v>7418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E-27CF-4F61-9399-1427E52706B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5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591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E7591"/>
                    </a:solidFill>
                    <a:latin typeface="Arial"/>
                  </a:rPr>
                  <a:t>Total Rides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5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Total Rides</c:v>
                </c:pt>
              </c:strCache>
            </c:strRef>
          </c:tx>
          <c:spPr>
            <a:ln w="3175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5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Sheet1!$A$2:$A$21</c:f>
              <c:strCache>
                <c:ptCount val="20"/>
                <c:pt idx="0">
                  <c:v>0.00</c:v>
                </c:pt>
                <c:pt idx="1">
                  <c:v>0.09</c:v>
                </c:pt>
                <c:pt idx="2">
                  <c:v>0.10</c:v>
                </c:pt>
                <c:pt idx="3">
                  <c:v>0.13</c:v>
                </c:pt>
                <c:pt idx="4">
                  <c:v>0.16</c:v>
                </c:pt>
                <c:pt idx="5">
                  <c:v>0.19</c:v>
                </c:pt>
                <c:pt idx="6">
                  <c:v>0.22</c:v>
                </c:pt>
                <c:pt idx="7">
                  <c:v>0.25</c:v>
                </c:pt>
                <c:pt idx="8">
                  <c:v>0.28</c:v>
                </c:pt>
                <c:pt idx="9">
                  <c:v>0.30</c:v>
                </c:pt>
                <c:pt idx="10">
                  <c:v>0.33</c:v>
                </c:pt>
                <c:pt idx="11">
                  <c:v>0.36</c:v>
                </c:pt>
                <c:pt idx="12">
                  <c:v>0.39</c:v>
                </c:pt>
                <c:pt idx="13">
                  <c:v>0.42</c:v>
                </c:pt>
                <c:pt idx="14">
                  <c:v>0.45</c:v>
                </c:pt>
                <c:pt idx="15">
                  <c:v>0.46</c:v>
                </c:pt>
                <c:pt idx="16">
                  <c:v>0.49</c:v>
                </c:pt>
                <c:pt idx="17">
                  <c:v>0.52</c:v>
                </c:pt>
                <c:pt idx="18">
                  <c:v>0.55</c:v>
                </c:pt>
                <c:pt idx="19">
                  <c:v>0.58</c:v>
                </c:pt>
              </c:strCache>
            </c:strRef>
          </c:cat>
          <c:val>
            <c:numRef>
              <c:f>Sheet1!$B$2:$B$21</c:f>
              <c:numCache>
                <c:formatCode>General</c:formatCode>
                <c:ptCount val="20"/>
                <c:pt idx="0">
                  <c:v>6792</c:v>
                </c:pt>
                <c:pt idx="1">
                  <c:v>4956</c:v>
                </c:pt>
                <c:pt idx="2">
                  <c:v>5190</c:v>
                </c:pt>
                <c:pt idx="3">
                  <c:v>4986</c:v>
                </c:pt>
                <c:pt idx="4">
                  <c:v>6738</c:v>
                </c:pt>
                <c:pt idx="5">
                  <c:v>5930</c:v>
                </c:pt>
                <c:pt idx="6">
                  <c:v>5048</c:v>
                </c:pt>
                <c:pt idx="7">
                  <c:v>5566</c:v>
                </c:pt>
                <c:pt idx="8">
                  <c:v>5392</c:v>
                </c:pt>
                <c:pt idx="9">
                  <c:v>3318</c:v>
                </c:pt>
                <c:pt idx="10">
                  <c:v>4620</c:v>
                </c:pt>
                <c:pt idx="11">
                  <c:v>2458</c:v>
                </c:pt>
                <c:pt idx="12">
                  <c:v>1712</c:v>
                </c:pt>
                <c:pt idx="13">
                  <c:v>914</c:v>
                </c:pt>
                <c:pt idx="14">
                  <c:v>1340</c:v>
                </c:pt>
                <c:pt idx="15">
                  <c:v>808</c:v>
                </c:pt>
                <c:pt idx="16">
                  <c:v>190</c:v>
                </c:pt>
                <c:pt idx="17">
                  <c:v>534</c:v>
                </c:pt>
                <c:pt idx="18">
                  <c:v>138</c:v>
                </c:pt>
                <c:pt idx="19">
                  <c:v>412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62F2-4669-A783-C0ACAECEF1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591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E7591"/>
                    </a:solidFill>
                    <a:latin typeface="Arial"/>
                  </a:rPr>
                  <a:t>Normalized Windspeed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2700000"/>
          <a:lstStyle/>
          <a:p>
            <a:pPr>
              <a:defRPr sz="900" b="0" i="0" u="none" strike="noStrike">
                <a:solidFill>
                  <a:srgbClr val="6E75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591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E7591"/>
                    </a:solidFill>
                    <a:latin typeface="Arial"/>
                  </a:rPr>
                  <a:t>Total Rides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5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Cold</c:v>
                </c:pt>
              </c:strCache>
            </c:strRef>
          </c:tx>
          <c:spPr>
            <a:solidFill>
              <a:srgbClr val="5B6B9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327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 Humidity</c:v>
                </c:pt>
                <c:pt idx="1">
                  <c:v>Humid</c:v>
                </c:pt>
                <c:pt idx="2">
                  <c:v>Low Humidity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4852</c:v>
                </c:pt>
                <c:pt idx="1">
                  <c:v>1122</c:v>
                </c:pt>
                <c:pt idx="2">
                  <c:v>45370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C32-4293-8E7D-5511AB284CE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Hot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2327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High Humidity</c:v>
                </c:pt>
                <c:pt idx="1">
                  <c:v>Humid</c:v>
                </c:pt>
                <c:pt idx="2">
                  <c:v>Low Humidity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1328</c:v>
                </c:pt>
                <c:pt idx="1">
                  <c:v>0</c:v>
                </c:pt>
                <c:pt idx="2">
                  <c:v>14370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C32-4293-8E7D-5511AB284CE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5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591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E7591"/>
                    </a:solidFill>
                    <a:latin typeface="Arial"/>
                  </a:rPr>
                  <a:t>Total Rides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5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327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Rides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68AF-4FA2-843D-6DE9726F3F3E}"/>
              </c:ext>
            </c:extLst>
          </c:dPt>
          <c:dPt>
            <c:idx val="1"/>
            <c:invertIfNegative val="0"/>
            <c:bubble3D val="0"/>
            <c:spPr>
              <a:solidFill>
                <a:srgbClr val="5B6BA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8AF-4FA2-843D-6DE9726F3F3E}"/>
              </c:ext>
            </c:extLst>
          </c:dPt>
          <c:dPt>
            <c:idx val="2"/>
            <c:invertIfNegative val="0"/>
            <c:bubble3D val="0"/>
            <c:spPr>
              <a:solidFill>
                <a:srgbClr val="9FB6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8AF-4FA2-843D-6DE9726F3F3E}"/>
              </c:ext>
            </c:extLst>
          </c:dPt>
          <c:dPt>
            <c:idx val="3"/>
            <c:invertIfNegative val="0"/>
            <c:bubble3D val="0"/>
            <c:spPr>
              <a:solidFill>
                <a:srgbClr val="CADCF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68AF-4FA2-843D-6DE9726F3F3E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23274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Light Cloudy</c:v>
                </c:pt>
                <c:pt idx="1">
                  <c:v>Light Mist</c:v>
                </c:pt>
                <c:pt idx="2">
                  <c:v>Light Rainfall</c:v>
                </c:pt>
                <c:pt idx="3">
                  <c:v>Heavy Storm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43592</c:v>
                </c:pt>
                <c:pt idx="1">
                  <c:v>20570</c:v>
                </c:pt>
                <c:pt idx="2">
                  <c:v>2808</c:v>
                </c:pt>
                <c:pt idx="3">
                  <c:v>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68AF-4FA2-843D-6DE9726F3F3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E759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4E8F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6E7591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6E7591"/>
                    </a:solidFill>
                    <a:latin typeface="Arial"/>
                  </a:rPr>
                  <a:t>Total Rides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E759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Rider Type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E276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45A-40CA-99A6-33B93AAC6BF2}"/>
              </c:ext>
            </c:extLst>
          </c:dPt>
          <c:dPt>
            <c:idx val="1"/>
            <c:bubble3D val="0"/>
            <c:spPr>
              <a:solidFill>
                <a:srgbClr val="9FB6E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45A-40CA-99A6-33B93AAC6BF2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45A-40CA-99A6-33B93AAC6BF2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45A-40CA-99A6-33B93AAC6BF2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Registered</c:v>
                </c:pt>
                <c:pt idx="1">
                  <c:v>Casual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61666</c:v>
                </c:pt>
                <c:pt idx="1">
                  <c:v>5376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45A-40CA-99A6-33B93AAC6BF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rgbClr val="23274A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80849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5B6B94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NEXTHIKES PROJECT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237744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Bike-Sharing Demand</a:t>
            </a:r>
            <a:endParaRPr lang="en-US" sz="4400" dirty="0"/>
          </a:p>
          <a:p>
            <a:pPr marL="0" indent="0">
              <a:lnSpc>
                <a:spcPts val="5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Analytics Dashboard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822960" y="416052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hourly rider demand through season, weather, temperature, humidity and windspeed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9834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from the NextHike bike-rental hourly dataset (2011–2012)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822960" y="62636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By Arvind Bhujade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EDF2FC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69164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FC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691640" y="183794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691640" y="225856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and goals of the analysis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EDF2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310896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FC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691640" y="325526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367588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Fields and structure of the data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452628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EDF2FC"/>
          </a:solidFill>
          <a:ln/>
        </p:spPr>
      </p:sp>
      <p:sp>
        <p:nvSpPr>
          <p:cNvPr id="13" name="Text 11"/>
          <p:cNvSpPr/>
          <p:nvPr/>
        </p:nvSpPr>
        <p:spPr>
          <a:xfrm>
            <a:off x="777240" y="452628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FC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691640" y="467258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Ridership Overview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691640" y="509320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 and rider mix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355080" y="169164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EDF2F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169164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FC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498080" y="183794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 Patterns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498080" y="225856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hour, weekday, windspeed, humidity, temperature and weather condition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355080" y="310896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EDF2FC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310896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FC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7498080" y="325526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0" y="367588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patterns tell us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355080" y="4526280"/>
            <a:ext cx="5440680" cy="1188720"/>
          </a:xfrm>
          <a:prstGeom prst="roundRect">
            <a:avLst>
              <a:gd name="adj" fmla="val 7692"/>
            </a:avLst>
          </a:prstGeom>
          <a:solidFill>
            <a:srgbClr val="EDF2FC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4526280"/>
            <a:ext cx="914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FC1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7498080" y="4672584"/>
            <a:ext cx="4069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98080" y="5093208"/>
            <a:ext cx="40690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findings into action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</a:t>
            </a: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  |  Bike-Sharing Demand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This Analysis Covers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EDF2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40180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1440180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📅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31520" y="31089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Time-based demand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6118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rider volume shifts across hours of the day and days of the week.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410712" y="17830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EDF2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02252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4302252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☁️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593592" y="31089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Weather sensitivity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639312" y="36118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effect of temperature, humidity and windspeed on ridership.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72784" y="17830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EDF2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164324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164324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👥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6455664" y="31089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 mix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01384" y="36118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between casual and registered riders across the full period.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134856" y="178308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EDF2FC"/>
          </a:solidFill>
          <a:ln/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0026396" y="2103120"/>
            <a:ext cx="822960" cy="8229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10026396" y="210312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📈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9317736" y="310896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Actionable insight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363456" y="3611880"/>
            <a:ext cx="21488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Patterns that can guide fleet sizing, staffing and station planning.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</a:t>
            </a: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  |  Bike-Sharing Demand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FOUNDATION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Snapshot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Hourly bike-rental records enriched with calendar and weather attributes.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EDF2FC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&amp; Hour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651760" y="1965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date plus hour-of-day (0–23)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2532888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13232" y="25328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/ Year / Month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651760" y="25328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Winter, Spring, Summer, Fall across 2011–2012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48640" y="3099816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EDF2FC"/>
          </a:solidFill>
          <a:ln/>
        </p:spPr>
      </p:sp>
      <p:sp>
        <p:nvSpPr>
          <p:cNvPr id="12" name="Text 10"/>
          <p:cNvSpPr/>
          <p:nvPr/>
        </p:nvSpPr>
        <p:spPr>
          <a:xfrm>
            <a:off x="713232" y="30998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Holiday &amp; Weekday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651760" y="309981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Working-day and weekend indicators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666744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6667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Condition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51760" y="366674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Clear, cloudy, light rain/snow, heavy weather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0" y="1965960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EDF2FC"/>
          </a:solidFill>
          <a:ln/>
        </p:spPr>
      </p:sp>
      <p:sp>
        <p:nvSpPr>
          <p:cNvPr id="18" name="Text 16"/>
          <p:cNvSpPr/>
          <p:nvPr/>
        </p:nvSpPr>
        <p:spPr>
          <a:xfrm>
            <a:off x="6565392" y="196596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&amp; Humidity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03920" y="1965960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readings, banded Cold / Hot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0" y="2532888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565392" y="2532888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Windspeed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2532888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wind measurement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3099816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EDF2FC"/>
          </a:solidFill>
          <a:ln/>
        </p:spPr>
      </p:sp>
      <p:sp>
        <p:nvSpPr>
          <p:cNvPr id="24" name="Text 22"/>
          <p:cNvSpPr/>
          <p:nvPr/>
        </p:nvSpPr>
        <p:spPr>
          <a:xfrm>
            <a:off x="6565392" y="3099816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503920" y="3099816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Non-registered, walk-up rentals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00800" y="3666744"/>
            <a:ext cx="539496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6565392" y="3666744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Riders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3666744"/>
            <a:ext cx="3154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Membership-based rentals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</a:t>
            </a: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Projects  |  Bike-Sharing Demand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TIME-OF-DAY PATTERN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 Demand by Hour of Day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417320"/>
          <a:ext cx="1124712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417320"/>
            <a:ext cx="3749040" cy="960120"/>
          </a:xfrm>
          <a:prstGeom prst="roundRect">
            <a:avLst>
              <a:gd name="adj" fmla="val 7619"/>
            </a:avLst>
          </a:prstGeom>
          <a:solidFill>
            <a:srgbClr val="EDF2FC"/>
          </a:solidFill>
          <a:ln/>
        </p:spPr>
      </p:sp>
      <p:sp>
        <p:nvSpPr>
          <p:cNvPr id="6" name="Text 3"/>
          <p:cNvSpPr/>
          <p:nvPr/>
        </p:nvSpPr>
        <p:spPr>
          <a:xfrm>
            <a:off x="8138160" y="1508760"/>
            <a:ext cx="3429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Twin peaks at 8 AM and 5–6 PM </a:t>
            </a:r>
            <a:endParaRPr lang="en-US" sz="110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 tightly with commuter rush hours.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</a:t>
            </a: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Projects  |  Bike-Sharing Demand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PATTERN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 Demand by Weekday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914400" y="1554480"/>
          <a:ext cx="649224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955280" y="169164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EDF2FC"/>
          </a:solidFill>
          <a:ln/>
        </p:spPr>
      </p:sp>
      <p:sp>
        <p:nvSpPr>
          <p:cNvPr id="6" name="Text 3"/>
          <p:cNvSpPr/>
          <p:nvPr/>
        </p:nvSpPr>
        <p:spPr>
          <a:xfrm>
            <a:off x="8183880" y="18562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Weekday strength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183880" y="224028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Tuesday and Thursday lead ridership — consistent with steady commuter demand.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955280" y="3840480"/>
            <a:ext cx="3749040" cy="1828800"/>
          </a:xfrm>
          <a:prstGeom prst="roundRect">
            <a:avLst>
              <a:gd name="adj" fmla="val 4000"/>
            </a:avLst>
          </a:prstGeom>
          <a:solidFill>
            <a:srgbClr val="EDF2FC"/>
          </a:solidFill>
          <a:ln/>
        </p:spPr>
      </p:sp>
      <p:sp>
        <p:nvSpPr>
          <p:cNvPr id="9" name="Text 6"/>
          <p:cNvSpPr/>
          <p:nvPr/>
        </p:nvSpPr>
        <p:spPr>
          <a:xfrm>
            <a:off x="8183880" y="40050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Weekend dip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183880" y="4389120"/>
            <a:ext cx="32918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Saturday and Sunday trail all weekdays, confirming a commute-driven pattern.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</a:t>
            </a: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Projects  |  Bike-Sharing Demand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SENSITIVITY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 Demand vs. Windspeed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08760"/>
          <a:ext cx="731520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8092440" y="1737360"/>
            <a:ext cx="3657600" cy="3566160"/>
          </a:xfrm>
          <a:prstGeom prst="roundRect">
            <a:avLst>
              <a:gd name="adj" fmla="val 2564"/>
            </a:avLst>
          </a:prstGeom>
          <a:solidFill>
            <a:srgbClr val="1E2761"/>
          </a:solidFill>
          <a:ln/>
        </p:spPr>
      </p:sp>
      <p:sp>
        <p:nvSpPr>
          <p:cNvPr id="6" name="Text 3"/>
          <p:cNvSpPr/>
          <p:nvPr/>
        </p:nvSpPr>
        <p:spPr>
          <a:xfrm>
            <a:off x="8321040" y="196596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321040" y="242316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 falls sharply 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windspeed rises. Above ~0.45 normalized windspeed, trip volume drops to a fraction of calm-weather levels.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8321040" y="3977640"/>
            <a:ext cx="3200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Fleet operators can anticipate lower demand and safely reduce reserve capacity during high-wind hours.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</a:t>
            </a: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Projects  |  Bike-Sharing Demand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SENSITIVITY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 Demand by Humidity &amp; Temperature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5448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726680" y="1737360"/>
            <a:ext cx="4023360" cy="3566160"/>
          </a:xfrm>
          <a:prstGeom prst="roundRect">
            <a:avLst>
              <a:gd name="adj" fmla="val 2564"/>
            </a:avLst>
          </a:prstGeom>
          <a:solidFill>
            <a:srgbClr val="EDF2FC"/>
          </a:solidFill>
          <a:ln/>
        </p:spPr>
      </p:sp>
      <p:sp>
        <p:nvSpPr>
          <p:cNvPr id="6" name="Text 3"/>
          <p:cNvSpPr/>
          <p:nvPr/>
        </p:nvSpPr>
        <p:spPr>
          <a:xfrm>
            <a:off x="7955280" y="1965960"/>
            <a:ext cx="3566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7955280" y="2423160"/>
            <a:ext cx="36118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Low-humidity conditions </a:t>
            </a:r>
            <a:endParaRPr lang="en-US" sz="1200" dirty="0"/>
          </a:p>
          <a:p>
            <a:pPr marL="0" indent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the overwhelming majority of rides — comfortable, dry weather is the biggest driver of demand.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Cold outperforms hot 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every humidity band, suggesting riders tolerate cool weather better than heat or heavy moisture.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</a:t>
            </a: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Projects  |  Bike-Sharing Demand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SENSITIVITY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 Demand by Weather Condition</a:t>
            </a:r>
            <a:endParaRPr lang="en-US" sz="30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554480"/>
          <a:ext cx="694944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737360"/>
            <a:ext cx="3840480" cy="3566160"/>
          </a:xfrm>
          <a:prstGeom prst="roundRect">
            <a:avLst>
              <a:gd name="adj" fmla="val 2564"/>
            </a:avLst>
          </a:prstGeom>
          <a:solidFill>
            <a:srgbClr val="EDF2FC"/>
          </a:solidFill>
          <a:ln/>
        </p:spPr>
      </p:sp>
      <p:sp>
        <p:nvSpPr>
          <p:cNvPr id="6" name="Text 3"/>
          <p:cNvSpPr/>
          <p:nvPr/>
        </p:nvSpPr>
        <p:spPr>
          <a:xfrm>
            <a:off x="8092440" y="196596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Chart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092440" y="2423160"/>
            <a:ext cx="34290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Clear, light-cloud days </a:t>
            </a:r>
            <a:endParaRPr lang="en-US" sz="1200" dirty="0"/>
          </a:p>
          <a:p>
            <a:pPr marL="0" indent="0">
              <a:lnSpc>
                <a:spcPts val="1600"/>
              </a:lnSpc>
              <a:spcAft>
                <a:spcPts val="1000"/>
              </a:spcAft>
              <a:buNone/>
            </a:pPr>
            <a:r>
              <a:rPr lang="en-US" sz="120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for roughly 65% of all rides — fair weather is the dominant riding condition.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b="1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Storm conditions </a:t>
            </a:r>
            <a:endParaRPr lang="en-US" sz="1200" dirty="0"/>
          </a:p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but eliminate ridership, confirming demand is highly weather-dependent.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</a:t>
            </a: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Projects  |  Bike-Sharing Demand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NUMBERS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Total Ridership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69164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0116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67,042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5156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Rides Recorded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26280" y="169164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EDF2FC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709160" y="20116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61,666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80060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Rider Trips (92%)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75320" y="1691640"/>
            <a:ext cx="3429000" cy="2148840"/>
          </a:xfrm>
          <a:prstGeom prst="roundRect">
            <a:avLst>
              <a:gd name="adj" fmla="val 5106"/>
            </a:avLst>
          </a:prstGeom>
          <a:solidFill>
            <a:srgbClr val="EDF2FC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458200" y="201168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5,376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8549640" y="306324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Casual Rider Trips (8%)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41148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Casual vs. Registered Mix</a:t>
            </a:r>
            <a:endParaRPr lang="en-US" sz="1500" dirty="0"/>
          </a:p>
        </p:txBody>
      </p:sp>
      <p:graphicFrame>
        <p:nvGraphicFramePr>
          <p:cNvPr id="14" name="Chart 0"/>
          <p:cNvGraphicFramePr/>
          <p:nvPr/>
        </p:nvGraphicFramePr>
        <p:xfrm>
          <a:off x="777240" y="4434840"/>
          <a:ext cx="374904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Text 12"/>
          <p:cNvSpPr/>
          <p:nvPr/>
        </p:nvSpPr>
        <p:spPr>
          <a:xfrm>
            <a:off x="4937760" y="4526280"/>
            <a:ext cx="63093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members dominate ridership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92% of all trips — signalling a loyal,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commute-driven user base with casual</a:t>
            </a:r>
            <a:endParaRPr lang="en-US" sz="135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 forming a smaller leisure segment.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</a:t>
            </a: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Projects  |  Bike-Sharing Demand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EFFECT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 Demand: Holiday vs. Working Day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77240" y="1737360"/>
            <a:ext cx="4206240" cy="2286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21031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65,042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051560" y="3108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on Working Days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9B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97% of total volume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40680" y="1737360"/>
            <a:ext cx="4206240" cy="2286000"/>
          </a:xfrm>
          <a:prstGeom prst="roundRect">
            <a:avLst>
              <a:gd name="adj" fmla="val 4800"/>
            </a:avLst>
          </a:prstGeom>
          <a:solidFill>
            <a:srgbClr val="EDF2FC"/>
          </a:solidFill>
          <a:ln/>
          <a:effectLst>
            <a:outerShdw blurRad="101600" dist="38100" dir="5400000" algn="bl" rotWithShape="0">
              <a:srgbClr val="1E2761">
                <a:alpha val="1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623560" y="2103120"/>
            <a:ext cx="3840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2,000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5715000" y="310896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Rides on Holidays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520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3% of total volume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343400"/>
            <a:ext cx="7498080" cy="1280160"/>
          </a:xfrm>
          <a:prstGeom prst="roundRect">
            <a:avLst>
              <a:gd name="adj" fmla="val 7143"/>
            </a:avLst>
          </a:prstGeom>
          <a:solidFill>
            <a:srgbClr val="EDF2FC"/>
          </a:solidFill>
          <a:ln/>
        </p:spPr>
      </p:sp>
      <p:sp>
        <p:nvSpPr>
          <p:cNvPr id="13" name="Text 11"/>
          <p:cNvSpPr/>
          <p:nvPr/>
        </p:nvSpPr>
        <p:spPr>
          <a:xfrm>
            <a:off x="1005840" y="4480560"/>
            <a:ext cx="7040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days drive the overwhelming majority of ridership, </a:t>
            </a:r>
            <a:r>
              <a:rPr lang="en-US" sz="1250" dirty="0">
                <a:solidFill>
                  <a:srgbClr val="2327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reinforcing the pattern seen in the hourly and weekday charts — this system is used primarily for commuting, not holiday leisure.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</a:t>
            </a: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Projects  |  Bike-Sharing Demand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5B6B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3736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🕰️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Commute-driven demand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577840" y="169164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 peaks at 8 AM and 5–6 PM, with weekday volumes consistently exceeding weekends.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670048"/>
            <a:ext cx="1115568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78892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78892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Loyal registered base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577840" y="274320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92% of trips come from registered members — casual riders are a small leisure segment.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721608"/>
            <a:ext cx="1115568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84048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84048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💨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508760" y="379476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Wind suppresses demand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577840" y="379476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Ridership declines steadily as windspeed increases, dropping sharply past moderate levels.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773168"/>
            <a:ext cx="11155680" cy="0"/>
          </a:xfrm>
          <a:prstGeom prst="line">
            <a:avLst/>
          </a:prstGeom>
          <a:noFill/>
          <a:ln w="12700">
            <a:solidFill>
              <a:srgbClr val="E4E8F5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89204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89204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☀️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1508760" y="4846320"/>
            <a:ext cx="3931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327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Comfort over heat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577840" y="4846320"/>
            <a:ext cx="6126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humidity and cooler temperatures consistently outperform hot or humid conditions.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159752" y="64465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 err="1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</a:t>
            </a:r>
            <a:r>
              <a:rPr lang="en-US" sz="1000" dirty="0">
                <a:solidFill>
                  <a:srgbClr val="6E759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Projects |  Bike-Sharing Demand Analytics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572000"/>
            <a:ext cx="4114800" cy="4114800"/>
          </a:xfrm>
          <a:prstGeom prst="ellipse">
            <a:avLst/>
          </a:prstGeom>
          <a:solidFill>
            <a:srgbClr val="5B6B94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594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91440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Turning Patterns into Action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822960" y="192024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192024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17320" y="184708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fleet availability for the 8 AM and 5–6 PM commuter windows on weekdays.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278892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78892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71576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 surplus bikes toward stations with leisure/weekend traffic on Sat–Sun.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65760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3657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17320" y="358444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standby fleet during high-windspeed and hot, humid forecasts.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22960" y="4526280"/>
            <a:ext cx="384048" cy="384048"/>
          </a:xfrm>
          <a:prstGeom prst="roundRect">
            <a:avLst>
              <a:gd name="adj" fmla="val 19048"/>
            </a:avLst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52628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41B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17320" y="4453128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casual-rider growth campaigns during low-humidity, mild-weather periods.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22960" y="58064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2960" y="594360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 Capstone Project  –  Bike-Sharing Demand Analytics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463040"/>
            <a:ext cx="5486400" cy="5486400"/>
          </a:xfrm>
          <a:prstGeom prst="ellipse">
            <a:avLst/>
          </a:prstGeom>
          <a:solidFill>
            <a:srgbClr val="1E2761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548640"/>
            <a:ext cx="3657600" cy="3657600"/>
          </a:xfrm>
          <a:prstGeom prst="ellipse">
            <a:avLst/>
          </a:prstGeom>
          <a:solidFill>
            <a:srgbClr val="5B6B94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389120"/>
            <a:ext cx="3840480" cy="3840480"/>
          </a:xfrm>
          <a:prstGeom prst="ellipse">
            <a:avLst/>
          </a:prstGeom>
          <a:solidFill>
            <a:srgbClr val="1E2761">
              <a:alpha val="55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743200"/>
            <a:ext cx="9601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6" name="Shape 4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39776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discussion welcome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By Arvind Bhujade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22960" y="6355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B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NextHike Capstone Project  –  Bike-Sharing Demand Analytics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818</Words>
  <Application>Microsoft Office PowerPoint</Application>
  <PresentationFormat>Widescreen</PresentationFormat>
  <Paragraphs>174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Arvind bhujade</cp:lastModifiedBy>
  <cp:revision>3</cp:revision>
  <dcterms:created xsi:type="dcterms:W3CDTF">2026-07-24T03:15:27Z</dcterms:created>
  <dcterms:modified xsi:type="dcterms:W3CDTF">2026-07-24T18:03:28Z</dcterms:modified>
</cp:coreProperties>
</file>